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76B87"/>
                </a:solidFill>
              </a:rPr>
              <a:t>AVL Aumentada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CCCC"/>
                </a:solidFill>
              </a:rPr>
              <a:t>Rank · Select · Range Aggregation em O(log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Estruturas de Dados — Grupo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Universidade Federal do Pampa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76B87"/>
                </a:solidFill>
              </a:rPr>
              <a:t>Parte 1  Código e implementação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A623"/>
                </a:solidFill>
              </a:rPr>
              <a:t>Parte 2  Experimentos e gráficos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Estrutura do Nó — AVL Aumentada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176B87"/>
                </a:solidFill>
              </a:rPr>
              <a:t>Campos do nó: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key   — chave inteira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left, right  — filhos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height  — altura da subárvore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size  — nº de nós na subárvore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subtree_sum  — soma das chaves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1">
                <a:solidFill>
                  <a:srgbClr val="F5A623"/>
                </a:solidFill>
              </a:rPr>
              <a:t>Invariantes mantidos: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BST: esq &lt; raiz &lt; dir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AVL: |h_esq − h_dir| ≤ 1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size = size(esq) + size(dir) + 1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sum = sum(esq) + sum(dir) +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D8EA"/>
                </a:solidFill>
              </a:rPr>
              <a:t>@dataclass
class Node:
    key: int
    left:  Node | None = None
    right: Node | None = None
    height: int = 1
    size:   int = 1
    subtree_sum: int = 0
    def __post_init__(self):
        self.subtree_sum = self.key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Rotações e Invariantes Aumentados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>
                <a:solidFill>
                  <a:srgbClr val="F5A623"/>
                </a:solidFill>
              </a:rPr>
              <a:t>Por que a ordem importa:</a:t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Na rotate_right(A):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  1. update(A)  — recalcula com filhos já corretos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  2. update(B)  — usa size(A) já correto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C44536"/>
                </a:solidFill>
              </a:rPr>
              <a:t>Se invertida (B antes de A):</a:t>
            </a:r>
          </a:p>
          <a:p>
            <a:pPr algn="l"/>
            <a:r>
              <a:rPr sz="1500" b="0">
                <a:solidFill>
                  <a:srgbClr val="C44536"/>
                </a:solidFill>
              </a:rPr>
              <a:t>  B.size conta A duas vezes!</a:t>
            </a:r>
          </a:p>
          <a:p>
            <a:pPr algn="l"/>
            <a:r>
              <a:rPr sz="1500" b="0">
                <a:solidFill>
                  <a:srgbClr val="C44536"/>
                </a:solidFill>
              </a:rPr>
              <a:t>  size(B) = size(A_errado) + size(C) + 1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Rotações duplas (LR / RL):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  = duas rotações simples em sequência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  ordem correta preservada em cada etapa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Resultado:</a:t>
            </a:r>
          </a:p>
          <a:p>
            <a:pPr algn="l"/>
            <a:r>
              <a:rPr sz="1500" b="0">
                <a:solidFill>
                  <a:srgbClr val="90EE90"/>
                </a:solidFill>
              </a:rPr>
              <a:t>  size e subtree_sum sempre consistentes</a:t>
            </a:r>
          </a:p>
          <a:p>
            <a:pPr algn="l"/>
            <a:r>
              <a:rPr sz="1500" b="0">
                <a:solidFill>
                  <a:srgbClr val="90EE90"/>
                </a:solidFill>
              </a:rPr>
              <a:t>  após qualquer rebalanceamento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D8EA"/>
                </a:solidFill>
              </a:rPr>
              <a:t>def rotate_right(A: Node) -&gt; Node:
    B = A.left          # novo pai
    A.left = B.right    # realoca filho
    update(A)           # 1º: A (folha)
    B.right = A
    update(B)           # 2º: B (usa A)
    return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75488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update(node) recalcula height, size e subtree_sum
a partir dos filhos — O(1) por chamada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Operações Aumentadas — O(log n)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3657600" cy="5029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rank(k)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7830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Conta nós menores que k.
Percorre da raiz:
  k &gt; raiz → rank = size(esq)+1 + rank(dir,k)
  k &lt; raiz → rank = rank(esq, k)
  k = raiz → rank = size(esq)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36576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select(i)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830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Devolve a i-ésima chave em ordem.
  r = size(esq) + 1
  i &lt; r → select(esq, i)
  i &gt; r → select(dir, i−r)
  i = r → raiz.key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188720"/>
            <a:ext cx="3657600" cy="502920"/>
          </a:xfrm>
          <a:prstGeom prst="rect">
            <a:avLst/>
          </a:prstGeom>
          <a:solidFill>
            <a:srgbClr val="4C9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range_agg(a,b)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Soma as chaves no intervalo [a,b].
Desce recursivamente:
  se [a,b] cobre subárvore → subtree_sum
  senão combina esq + raiz + dir
  (sem varredura linear)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BST ingênua: rank/select/range_agg percorrem toda a árvore → O(n)
AVL aumentada: usa size e subtree_sum armazenados → O(log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Testes 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900" b="1">
                <a:solidFill>
                  <a:srgbClr val="F5A623"/>
                </a:solidFill>
              </a:rPr>
              <a:t>Suite de testes unitários (unittest):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test_avl_aumentada.py  — invariantes AVL, size, subtree_sum após cada op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test_bst_ingenua.py    — rank/select/range_agg na BST baseline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test_executar_trace.py — pipeline completo de leitura de trace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>
                <a:solidFill>
                  <a:srgbClr val="F5A623"/>
                </a:solidFill>
              </a:rPr>
              <a:t>Validação contínua durante experimentos: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--validate-every N  chama validate_invariants() a cada N operações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verifica: ordem BST, balanço AVL, size, subtree_sum em toda a árvore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>
                <a:solidFill>
                  <a:srgbClr val="F5A623"/>
                </a:solidFill>
              </a:rPr>
              <a:t>Cenários de estresse: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inserção ordenada → BST degenera em lista (h = n)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inserção embaralhada + remoções → AVL mantém h ≤ 1,44 log₂ n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>
                <a:solidFill>
                  <a:srgbClr val="F5A623"/>
                </a:solidFill>
              </a:rPr>
              <a:t>Rastreabilidade:</a:t>
            </a:r>
          </a:p>
          <a:p>
            <a:pPr algn="l"/>
            <a:r>
              <a:rPr sz="1600" b="0">
                <a:solidFill>
                  <a:srgbClr val="FFFFFF"/>
                </a:solidFill>
              </a:rPr>
              <a:t>  trace .trace → execute_trace() → saída .out comparável com .expected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A623"/>
                </a:solidFill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Experimentos e Análise dos 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</a:rPr>
              <a:t>Grupo 16 · dataset: osm_cellids_800M · mix=35:30:35 · theta=0.6 · seed=16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Crescimento da Altura</a:t>
            </a:r>
          </a:p>
        </p:txBody>
      </p:sp>
      <p:pic>
        <p:nvPicPr>
          <p:cNvPr id="3" name="Picture 2" descr="escala_al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700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18872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700" b="1">
                <a:solidFill>
                  <a:srgbClr val="F5A623"/>
                </a:solidFill>
              </a:rPr>
              <a:t>O que o gráfico mostra: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Altura final após n inserções
embaralhas (shuffle).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176B87"/>
                </a:solidFill>
              </a:rPr>
              <a:t>AVL (azul):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cresce como ≈ 1,44 log₂ n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n=1M → h ≈ 29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C44536"/>
                </a:solidFill>
              </a:rPr>
              <a:t>BST (vermelho):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esperado ≈ 2,5 log₂ n (aleatório)</a:t>
            </a:r>
          </a:p>
          <a:p>
            <a:pPr algn="l"/>
            <a:r>
              <a:rPr sz="1500" b="0">
                <a:solidFill>
                  <a:srgbClr val="CCCCCC"/>
                </a:solidFill>
              </a:rPr>
              <a:t>n=1M → h ≈ 50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FFFFFF"/>
                </a:solidFill>
              </a:rPr>
              <a:t>Conclusão:</a:t>
            </a:r>
          </a:p>
          <a:p>
            <a:pPr algn="l"/>
            <a:r>
              <a:rPr sz="1500" b="0">
                <a:solidFill>
                  <a:srgbClr val="90EE90"/>
                </a:solidFill>
              </a:rPr>
              <a:t>Rebalanceamento AVL garante
áltura logarítmica em qualquer
sequência de inserções.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Escalabilidade das Operações Básicas (teoria × prática)</a:t>
            </a:r>
          </a:p>
        </p:txBody>
      </p:sp>
      <p:pic>
        <p:nvPicPr>
          <p:cNvPr id="3" name="Picture 2" descr="escala_operacoes_bas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2739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500" b="1">
                <a:solidFill>
                  <a:srgbClr val="F5A623"/>
                </a:solidFill>
              </a:rPr>
              <a:t>Três painéis: insert, delete, search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Curva cinza: O(log n) ancorada
em n=100 na AVL.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176B87"/>
                </a:solidFill>
              </a:rPr>
              <a:t>Inserção: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AVL ~10× mais lenta que BST
(overhead de rotações)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176B87"/>
                </a:solidFill>
              </a:rPr>
              <a:t>Busca: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Latências próximas;
AVL leva vantagem em n grande
(árvore mais baixa)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90EE90"/>
                </a:solidFill>
              </a:rPr>
              <a:t>Ambas seguem O(log n):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crescimento sub-linear
confirmado empiricamente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Escalabilidade das Consultas Aumentadas</a:t>
            </a:r>
          </a:p>
        </p:txBody>
      </p:sp>
      <p:pic>
        <p:nvPicPr>
          <p:cNvPr id="3" name="Picture 2" descr="escala_consultas_aument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8046720" cy="27425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188720"/>
            <a:ext cx="3566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600" b="1">
                <a:solidFill>
                  <a:srgbClr val="F5A623"/>
                </a:solidFill>
              </a:rPr>
              <a:t>rank · select · range_agg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176B87"/>
                </a:solidFill>
              </a:rPr>
              <a:t>AVL (azul):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segue O(log n) — usa size e
subtree_sum armazenados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C44536"/>
                </a:solidFill>
              </a:rPr>
              <a:t>BST (vermelho):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rank/select: O(n) — percorre
toda a subárvore para contar</a:t>
            </a:r>
          </a:p>
          <a:p>
            <a:pPr algn="l"/>
            <a:r>
              <a:rPr sz="1400" b="0">
                <a:solidFill>
                  <a:srgbClr val="FFFFFF"/>
                </a:solidFill>
              </a:rPr>
              <a:t>range_agg BST: visita
todos os nós no intervalo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1">
                <a:solidFill>
                  <a:srgbClr val="90EE90"/>
                </a:solidFill>
              </a:rPr>
              <a:t>Divergência clara:</a:t>
            </a:r>
          </a:p>
          <a:p>
            <a:pPr algn="l"/>
            <a:r>
              <a:rPr sz="1400" b="0">
                <a:solidFill>
                  <a:srgbClr val="CCCCCC"/>
                </a:solidFill>
              </a:rPr>
              <a:t>em n=1M, BST ≈ 1000× mais
lenta que AVL no rank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600" b="1">
                <a:solidFill>
                  <a:srgbClr val="F5A623"/>
                </a:solidFill>
              </a:rPr>
              <a:t>Este é o ganho real
da augmentação!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Theta (localidade) e Ordem de Inserção</a:t>
            </a:r>
          </a:p>
        </p:txBody>
      </p:sp>
      <p:pic>
        <p:nvPicPr>
          <p:cNvPr id="3" name="Picture 2" descr="theta_latencias_av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5943600" cy="2388160"/>
          </a:xfrm>
          <a:prstGeom prst="rect">
            <a:avLst/>
          </a:prstGeom>
        </p:spPr>
      </p:pic>
      <p:pic>
        <p:nvPicPr>
          <p:cNvPr id="4" name="Picture 3" descr="ordem_avl_b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760720" cy="2046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5120640"/>
            <a:ext cx="5943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Theta: θ=1,2 concentra 80% dos acessos em 20% das chaves (Zipfian). Operações na AVL ficam ~30% mais rápidas por localidade de cache (chaves quentes próximas da raiz).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5120640"/>
            <a:ext cx="5760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Ordem de inserção: BST sorted degenera (h = n = 1M+). AVL mantém h ≤ 30 em ambos os casos — rebalanceamento torna o pior caso impossível.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2600" b="1">
                <a:solidFill>
                  <a:srgbClr val="FFFFFF"/>
                </a:solidFill>
              </a:rPr>
              <a:t> 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900" b="1">
                <a:solidFill>
                  <a:srgbClr val="F5A623"/>
                </a:solidFill>
              </a:rPr>
              <a:t>Contribuições do trabalho: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  AVL aumentada com size e subtree_sum — O(log n) garantido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  rank · select · range_agg sem varredura linear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  Suite de testes + validação contínua de invariantes</a:t>
            </a:r>
          </a:p>
          <a:p>
            <a:pPr algn="l"/>
            <a:r>
              <a:rPr sz="1700" b="0">
                <a:solidFill>
                  <a:srgbClr val="FFFFFF"/>
                </a:solidFill>
              </a:rPr>
              <a:t>  Benchmark em 11 cenários × 2 estruturas × 3 repetições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>
                <a:solidFill>
                  <a:srgbClr val="F5A623"/>
                </a:solidFill>
              </a:rPr>
              <a:t>Resultados experimentais confirmam:</a:t>
            </a:r>
          </a:p>
          <a:p>
            <a:pPr algn="l"/>
            <a:r>
              <a:rPr sz="1700" b="0">
                <a:solidFill>
                  <a:srgbClr val="90EE90"/>
                </a:solidFill>
              </a:rPr>
              <a:t>  Altura AVL ≤ 1,44 log₂ n em todas as escalas</a:t>
            </a:r>
          </a:p>
          <a:p>
            <a:pPr algn="l"/>
            <a:r>
              <a:rPr sz="1700" b="0">
                <a:solidFill>
                  <a:srgbClr val="90EE90"/>
                </a:solidFill>
              </a:rPr>
              <a:t>  Consultas aumentadas: AVL até 1000× mais rápida (n=1M)</a:t>
            </a:r>
          </a:p>
          <a:p>
            <a:pPr algn="l"/>
            <a:r>
              <a:rPr sz="1700" b="0">
                <a:solidFill>
                  <a:srgbClr val="C44536"/>
                </a:solidFill>
              </a:rPr>
              <a:t>  BST sorted → colapso total (h=n)</a:t>
            </a:r>
          </a:p>
          <a:p>
            <a:pPr algn="l"/>
            <a:r>
              <a:rPr sz="1700" b="0">
                <a:solidFill>
                  <a:srgbClr val="90EE90"/>
                </a:solidFill>
              </a:rPr>
              <a:t>  Localidade Zipfian (θ=1,2) melhora ~30% a AVL</a:t>
            </a:r>
          </a:p>
          <a:p>
            <a:pPr algn="l"/>
            <a:r>
              <a:rPr sz="10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900" b="1">
                <a:solidFill>
                  <a:srgbClr val="F5A623"/>
                </a:solidFill>
              </a:rPr>
              <a:t>Trade-off:</a:t>
            </a:r>
          </a:p>
          <a:p>
            <a:pPr algn="l"/>
            <a:r>
              <a:rPr sz="1700" b="0">
                <a:solidFill>
                  <a:srgbClr val="CCCCCC"/>
                </a:solidFill>
              </a:rPr>
              <a:t>  Inserção AVL ~10× mais custosa (rotações)</a:t>
            </a:r>
          </a:p>
          <a:p>
            <a:pPr algn="l"/>
            <a:r>
              <a:rPr sz="1700" b="0">
                <a:solidFill>
                  <a:srgbClr val="CCCCCC"/>
                </a:solidFill>
              </a:rPr>
              <a:t>  Justificado quando consultas dominam o workload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A623"/>
                </a:solidFill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55778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Grupo 16 — Estruturas de Dados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